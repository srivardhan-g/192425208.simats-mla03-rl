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1" r:id="rId2"/>
    <p:sldId id="265" r:id="rId3"/>
    <p:sldId id="257" r:id="rId4"/>
    <p:sldId id="270" r:id="rId5"/>
    <p:sldId id="258" r:id="rId6"/>
    <p:sldId id="259" r:id="rId7"/>
    <p:sldId id="260" r:id="rId8"/>
    <p:sldId id="261" r:id="rId9"/>
    <p:sldId id="262" r:id="rId10"/>
    <p:sldId id="263" r:id="rId11"/>
    <p:sldId id="266" r:id="rId12"/>
    <p:sldId id="267" r:id="rId13"/>
    <p:sldId id="268" r:id="rId14"/>
    <p:sldId id="264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F73AD-EB15-EEAE-C7E4-10FB32AA2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5B59C19-9E25-2D5A-2D8C-045E3E4EC15C}"/>
              </a:ext>
            </a:extLst>
          </p:cNvPr>
          <p:cNvSpPr txBox="1"/>
          <p:nvPr/>
        </p:nvSpPr>
        <p:spPr>
          <a:xfrm>
            <a:off x="874732" y="1564391"/>
            <a:ext cx="10698480" cy="1780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  <a:latin typeface="Segoe UI"/>
              </a:defRPr>
            </a:pPr>
            <a:r>
              <a:rPr sz="3600" dirty="0">
                <a:ln w="0"/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Intelligent Electric Vehicle Charging and Battery Management </a:t>
            </a:r>
            <a:r>
              <a:rPr sz="3600" dirty="0" err="1">
                <a:ln w="0"/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Syste</a:t>
            </a:r>
            <a:r>
              <a:rPr lang="en-IN" sz="3600" dirty="0">
                <a:ln w="0"/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br>
              <a:rPr lang="en-IN" sz="3600" dirty="0">
                <a:ln w="0"/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dirty="0">
                <a:ln w="0"/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3600" dirty="0">
                <a:ln w="0"/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Using Reinforcement </a:t>
            </a:r>
            <a:r>
              <a:rPr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96D8B3-BD44-0BAC-D127-0BE91FAF7366}"/>
              </a:ext>
            </a:extLst>
          </p:cNvPr>
          <p:cNvSpPr/>
          <p:nvPr/>
        </p:nvSpPr>
        <p:spPr>
          <a:xfrm>
            <a:off x="859645" y="4766679"/>
            <a:ext cx="10728655" cy="2743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9DFD21-E15D-E6F0-61B2-53D5F5F8BF42}"/>
              </a:ext>
            </a:extLst>
          </p:cNvPr>
          <p:cNvSpPr txBox="1"/>
          <p:nvPr/>
        </p:nvSpPr>
        <p:spPr>
          <a:xfrm>
            <a:off x="603700" y="5043948"/>
            <a:ext cx="3291840" cy="12252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defRPr sz="1200" b="1">
                <a:solidFill>
                  <a:srgbClr val="2ECC71"/>
                </a:solidFill>
                <a:latin typeface="Segoe UI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E.V.Mahendra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Reddy(192425214)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T.Ganesh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(192425246)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600" b="1">
                <a:solidFill>
                  <a:srgbClr val="FFFFFF"/>
                </a:solidFill>
                <a:latin typeface="Segoe UI"/>
              </a:defRPr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Sri Vardhan(192425208)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19698E-94A3-0D0E-267F-7BF22DA60E3E}"/>
              </a:ext>
            </a:extLst>
          </p:cNvPr>
          <p:cNvSpPr txBox="1"/>
          <p:nvPr/>
        </p:nvSpPr>
        <p:spPr>
          <a:xfrm>
            <a:off x="4181662" y="5043948"/>
            <a:ext cx="4114800" cy="116018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defRPr sz="1200" b="1">
                <a:solidFill>
                  <a:srgbClr val="2ECC71"/>
                </a:solidFill>
                <a:latin typeface="Segoe UI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&amp; Institution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Artificial Intelligence</a:t>
            </a:r>
            <a:b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Machine Learning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B4BAC2"/>
                </a:solidFill>
                <a:latin typeface="Segoe UI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Saveetha School of Engineering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4B191E-1F4A-322A-A6DD-F6064DB84C3A}"/>
              </a:ext>
            </a:extLst>
          </p:cNvPr>
          <p:cNvSpPr txBox="1"/>
          <p:nvPr/>
        </p:nvSpPr>
        <p:spPr>
          <a:xfrm>
            <a:off x="9027980" y="5043948"/>
            <a:ext cx="2560320" cy="9062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defRPr sz="1200" b="1">
                <a:solidFill>
                  <a:srgbClr val="2ECC71"/>
                </a:solidFill>
                <a:latin typeface="Segoe UI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Details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defRPr sz="1500" b="0">
                <a:solidFill>
                  <a:srgbClr val="FFFFFF"/>
                </a:solidFill>
                <a:latin typeface="Segoe UI"/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Guide: Guide Name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400" b="0">
                <a:solidFill>
                  <a:srgbClr val="B4BAC2"/>
                </a:solidFill>
                <a:latin typeface="Segoe UI"/>
              </a:defRPr>
            </a:pPr>
            <a:r>
              <a:rPr lang="en-US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Dr.G.A.Senthil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object 4">
            <a:extLst>
              <a:ext uri="{FF2B5EF4-FFF2-40B4-BE49-F238E27FC236}">
                <a16:creationId xmlns:a16="http://schemas.microsoft.com/office/drawing/2014/main" id="{FE7213F5-E93B-7EFA-6390-13A05B02A9E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264971" cy="1342897"/>
          </a:xfrm>
          <a:prstGeom prst="rect">
            <a:avLst/>
          </a:prstGeom>
        </p:spPr>
      </p:pic>
      <p:pic>
        <p:nvPicPr>
          <p:cNvPr id="19" name="object 5">
            <a:extLst>
              <a:ext uri="{FF2B5EF4-FFF2-40B4-BE49-F238E27FC236}">
                <a16:creationId xmlns:a16="http://schemas.microsoft.com/office/drawing/2014/main" id="{DE5C3511-EB2C-8BC0-0B56-9CB8800BC7A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B05DA323-E11B-CC76-92C9-31F29AE9E00A}"/>
              </a:ext>
            </a:extLst>
          </p:cNvPr>
          <p:cNvSpPr txBox="1"/>
          <p:nvPr/>
        </p:nvSpPr>
        <p:spPr>
          <a:xfrm>
            <a:off x="989837" y="3799415"/>
            <a:ext cx="10698480" cy="43678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3200" b="1">
                <a:solidFill>
                  <a:srgbClr val="FFFFFF"/>
                </a:solidFill>
                <a:latin typeface="Segoe UI"/>
              </a:defRPr>
            </a:pPr>
            <a:r>
              <a:rPr lang="en-I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MLA03- REINFORCEMENT LEARNING</a:t>
            </a:r>
            <a:endParaRPr sz="28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84976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76BD2-2EFE-193A-5339-272555A25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object 5">
            <a:extLst>
              <a:ext uri="{FF2B5EF4-FFF2-40B4-BE49-F238E27FC236}">
                <a16:creationId xmlns:a16="http://schemas.microsoft.com/office/drawing/2014/main" id="{777612EE-7979-EEB3-8B84-24C22739EAE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81062" y="28703"/>
            <a:ext cx="1520062" cy="1342897"/>
          </a:xfrm>
          <a:prstGeom prst="rect">
            <a:avLst/>
          </a:prstGeom>
        </p:spPr>
      </p:pic>
      <p:pic>
        <p:nvPicPr>
          <p:cNvPr id="12" name="object 4">
            <a:extLst>
              <a:ext uri="{FF2B5EF4-FFF2-40B4-BE49-F238E27FC236}">
                <a16:creationId xmlns:a16="http://schemas.microsoft.com/office/drawing/2014/main" id="{CE2384F7-C890-CEA5-847A-570179305FF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1170" y="15177"/>
            <a:ext cx="1520062" cy="126498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9AF3FC6-17D1-4A66-4FD3-294A9F360E0E}"/>
              </a:ext>
            </a:extLst>
          </p:cNvPr>
          <p:cNvSpPr txBox="1"/>
          <p:nvPr/>
        </p:nvSpPr>
        <p:spPr>
          <a:xfrm>
            <a:off x="3623963" y="446685"/>
            <a:ext cx="43303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B66AA0-7585-4375-50B4-ACB31ADFDE7D}"/>
              </a:ext>
            </a:extLst>
          </p:cNvPr>
          <p:cNvSpPr txBox="1"/>
          <p:nvPr/>
        </p:nvSpPr>
        <p:spPr>
          <a:xfrm>
            <a:off x="827464" y="1645427"/>
            <a:ext cx="1026694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presents an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Electric Vehicle Charging and Battery Management System using Reinforcement Learning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dynamically optimizes EV charging based on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electricity cost, grid load, station availability, waiting time, and battery health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Battery Management System continuously monitors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SOC, SOH, temperature, voltage, and current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ensure safe charging.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Reinforcement Learning agent learns optimal charging decisions to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cost, waiting time, battery degradation, and grid stress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improves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battery lifespan, charging-station utilization, and overall efficiency of electric transportation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9405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640080"/>
            <a:ext cx="10972800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600" b="1">
                <a:solidFill>
                  <a:srgbClr val="0F2043"/>
                </a:solidFill>
                <a:latin typeface="Segoe UI"/>
              </a:defRPr>
            </a:pPr>
            <a:r>
              <a:rPr dirty="0"/>
              <a:t>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11094415" cy="1828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object 5">
            <a:extLst>
              <a:ext uri="{FF2B5EF4-FFF2-40B4-BE49-F238E27FC236}">
                <a16:creationId xmlns:a16="http://schemas.microsoft.com/office/drawing/2014/main" id="{443929B0-642C-0894-F4A0-52AED4D50E4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81062" y="28703"/>
            <a:ext cx="1520062" cy="1342897"/>
          </a:xfrm>
          <a:prstGeom prst="rect">
            <a:avLst/>
          </a:prstGeom>
        </p:spPr>
      </p:pic>
      <p:pic>
        <p:nvPicPr>
          <p:cNvPr id="12" name="object 4">
            <a:extLst>
              <a:ext uri="{FF2B5EF4-FFF2-40B4-BE49-F238E27FC236}">
                <a16:creationId xmlns:a16="http://schemas.microsoft.com/office/drawing/2014/main" id="{F15AFDAF-F1D6-7AC2-88CB-2FB6808F128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1170" y="15177"/>
            <a:ext cx="1520062" cy="126498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BD414E3-4F76-D24C-9D44-0EFFCD6E4BAD}"/>
              </a:ext>
            </a:extLst>
          </p:cNvPr>
          <p:cNvSpPr txBox="1"/>
          <p:nvPr/>
        </p:nvSpPr>
        <p:spPr>
          <a:xfrm>
            <a:off x="698090" y="1905063"/>
            <a:ext cx="10451691" cy="4653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increasing use of </a:t>
            </a:r>
            <a:r>
              <a:rPr lang="en-IN" sz="20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Electric Vehicles (EVs)</a:t>
            </a:r>
            <a:r>
              <a:rPr lang="en-IN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creates a need for efficient and intelligent charging systems.</a:t>
            </a:r>
          </a:p>
          <a:p>
            <a:pPr marL="0" marR="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charging methods may cause </a:t>
            </a:r>
            <a:r>
              <a:rPr lang="en-IN" sz="20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electricity costs, peak power demand, and inefficient battery usage</a:t>
            </a:r>
            <a:r>
              <a:rPr lang="en-IN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 </a:t>
            </a:r>
            <a:r>
              <a:rPr lang="en-IN" sz="20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Battery Management System (BMS)</a:t>
            </a:r>
            <a:r>
              <a:rPr lang="en-IN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monitors important parameters such as </a:t>
            </a:r>
            <a:r>
              <a:rPr lang="en-IN" sz="20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State of Charge (SoC), voltage, current, temperature, and battery health</a:t>
            </a:r>
            <a:r>
              <a:rPr lang="en-IN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Reinforcement Learning (RL)</a:t>
            </a:r>
            <a:r>
              <a:rPr lang="en-IN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can learn optimal charging and discharging strategies based on battery condition, energy demand, and electricity prices.</a:t>
            </a:r>
          </a:p>
          <a:p>
            <a:pPr marL="0" marR="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aims to provide </a:t>
            </a:r>
            <a:r>
              <a:rPr lang="en-IN" sz="20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safe, cost-effective, energy-efficient charging while improving battery life and reducing grid load</a:t>
            </a:r>
            <a:r>
              <a:rPr lang="en-IN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4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640080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600" b="1">
                <a:solidFill>
                  <a:srgbClr val="0F2043"/>
                </a:solidFill>
                <a:latin typeface="Segoe UI"/>
              </a:defRPr>
            </a:pPr>
            <a:r>
              <a:rPr sz="2800" dirty="0"/>
              <a:t>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2560320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2194560" cy="10795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200" b="1">
                <a:solidFill>
                  <a:srgbClr val="27AE60"/>
                </a:solidFill>
                <a:latin typeface="Segoe UI"/>
              </a:defRPr>
            </a:pPr>
            <a:r>
              <a:rPr sz="1600" dirty="0"/>
              <a:t>01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defRPr sz="1300" b="1">
                <a:solidFill>
                  <a:srgbClr val="0F2043"/>
                </a:solidFill>
                <a:latin typeface="Segoe UI"/>
              </a:defRPr>
            </a:pPr>
            <a:r>
              <a:rPr sz="1600" dirty="0"/>
              <a:t>Develop an intelligent EV charging management system.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645920"/>
            <a:ext cx="2560320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66160" y="1828800"/>
            <a:ext cx="2194560" cy="13381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200" b="1">
                <a:solidFill>
                  <a:srgbClr val="27AE60"/>
                </a:solidFill>
                <a:latin typeface="Segoe UI"/>
              </a:defRPr>
            </a:pPr>
            <a:r>
              <a:rPr sz="1600" dirty="0"/>
              <a:t>02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defRPr sz="1300" b="1">
                <a:solidFill>
                  <a:srgbClr val="0F2043"/>
                </a:solidFill>
                <a:latin typeface="Segoe UI"/>
              </a:defRPr>
            </a:pPr>
            <a:r>
              <a:rPr sz="1600" dirty="0"/>
              <a:t>Optimize charging schedules using Reinforcement Learning.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2560320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2194560" cy="8210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200" b="1">
                <a:solidFill>
                  <a:srgbClr val="27AE60"/>
                </a:solidFill>
                <a:latin typeface="Segoe UI"/>
              </a:defRPr>
            </a:pPr>
            <a:r>
              <a:rPr sz="1600" dirty="0"/>
              <a:t>03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defRPr sz="1300" b="1">
                <a:solidFill>
                  <a:srgbClr val="0F2043"/>
                </a:solidFill>
                <a:latin typeface="Segoe UI"/>
              </a:defRPr>
            </a:pPr>
            <a:r>
              <a:rPr sz="1600" dirty="0"/>
              <a:t>Predict battery health continuously.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0" y="1645920"/>
            <a:ext cx="2560320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235440" y="1828800"/>
            <a:ext cx="2194560" cy="10795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200" b="1">
                <a:solidFill>
                  <a:srgbClr val="27AE60"/>
                </a:solidFill>
                <a:latin typeface="Segoe UI"/>
              </a:defRPr>
            </a:pPr>
            <a:r>
              <a:rPr sz="1600" dirty="0"/>
              <a:t>04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defRPr sz="1300" b="1">
                <a:solidFill>
                  <a:srgbClr val="0F2043"/>
                </a:solidFill>
                <a:latin typeface="Segoe UI"/>
              </a:defRPr>
            </a:pPr>
            <a:r>
              <a:rPr sz="1600" dirty="0"/>
              <a:t>Reduce electricity consumption and charging cost.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931920"/>
            <a:ext cx="2560320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4114800"/>
            <a:ext cx="2194560" cy="8210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200" b="1">
                <a:solidFill>
                  <a:srgbClr val="27AE60"/>
                </a:solidFill>
                <a:latin typeface="Segoe UI"/>
              </a:defRPr>
            </a:pPr>
            <a:r>
              <a:rPr sz="1600" dirty="0"/>
              <a:t>05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defRPr sz="1300" b="1">
                <a:solidFill>
                  <a:srgbClr val="0F2043"/>
                </a:solidFill>
                <a:latin typeface="Segoe UI"/>
              </a:defRPr>
            </a:pPr>
            <a:r>
              <a:rPr sz="1600" dirty="0"/>
              <a:t>Increase battery lifespan.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80" y="3931920"/>
            <a:ext cx="2560320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66160" y="4114800"/>
            <a:ext cx="2194560" cy="8210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200" b="1">
                <a:solidFill>
                  <a:srgbClr val="27AE60"/>
                </a:solidFill>
                <a:latin typeface="Segoe UI"/>
              </a:defRPr>
            </a:pPr>
            <a:r>
              <a:rPr sz="1600" dirty="0"/>
              <a:t>06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defRPr sz="1300" b="1">
                <a:solidFill>
                  <a:srgbClr val="0F2043"/>
                </a:solidFill>
                <a:latin typeface="Segoe UI"/>
              </a:defRPr>
            </a:pPr>
            <a:r>
              <a:rPr sz="1600" dirty="0"/>
              <a:t>Reduce waiting time at charging stations.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931920"/>
            <a:ext cx="2560320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0" y="4114800"/>
            <a:ext cx="2194560" cy="8210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200" b="1">
                <a:solidFill>
                  <a:srgbClr val="27AE60"/>
                </a:solidFill>
                <a:latin typeface="Segoe UI"/>
              </a:defRPr>
            </a:pPr>
            <a:r>
              <a:rPr sz="1600" dirty="0"/>
              <a:t>07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defRPr sz="1300" b="1">
                <a:solidFill>
                  <a:srgbClr val="0F2043"/>
                </a:solidFill>
                <a:latin typeface="Segoe UI"/>
              </a:defRPr>
            </a:pPr>
            <a:r>
              <a:rPr sz="1600" dirty="0"/>
              <a:t>Improve charging station utilization.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52560" y="3931920"/>
            <a:ext cx="2560320" cy="1920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35440" y="4114800"/>
            <a:ext cx="2194560" cy="10795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 sz="1200" b="1">
                <a:solidFill>
                  <a:srgbClr val="27AE60"/>
                </a:solidFill>
                <a:latin typeface="Segoe UI"/>
              </a:defRPr>
            </a:pPr>
            <a:r>
              <a:rPr sz="1600" dirty="0"/>
              <a:t>08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  <a:defRPr sz="1300" b="1">
                <a:solidFill>
                  <a:srgbClr val="0F2043"/>
                </a:solidFill>
                <a:latin typeface="Segoe UI"/>
              </a:defRPr>
            </a:pPr>
            <a:r>
              <a:rPr sz="1600" dirty="0"/>
              <a:t>Support sustainable and efficient electric transportation.</a:t>
            </a:r>
          </a:p>
        </p:txBody>
      </p:sp>
      <p:pic>
        <p:nvPicPr>
          <p:cNvPr id="22" name="object 5">
            <a:extLst>
              <a:ext uri="{FF2B5EF4-FFF2-40B4-BE49-F238E27FC236}">
                <a16:creationId xmlns:a16="http://schemas.microsoft.com/office/drawing/2014/main" id="{987D2E92-D830-F496-2542-7E0419E8F00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4203" y="7685"/>
            <a:ext cx="1520062" cy="1342897"/>
          </a:xfrm>
          <a:prstGeom prst="rect">
            <a:avLst/>
          </a:prstGeom>
        </p:spPr>
      </p:pic>
      <p:pic>
        <p:nvPicPr>
          <p:cNvPr id="24" name="object 4">
            <a:extLst>
              <a:ext uri="{FF2B5EF4-FFF2-40B4-BE49-F238E27FC236}">
                <a16:creationId xmlns:a16="http://schemas.microsoft.com/office/drawing/2014/main" id="{245ED52E-19D0-9506-9746-2EB116B2054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7430" y="7685"/>
            <a:ext cx="1303501" cy="134289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640080"/>
            <a:ext cx="10972800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600" b="1">
                <a:solidFill>
                  <a:srgbClr val="0F2043"/>
                </a:solidFill>
                <a:latin typeface="Segoe UI"/>
              </a:defRPr>
            </a:pPr>
            <a:r>
              <a:rPr dirty="0"/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11094415" cy="1828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object 5">
            <a:extLst>
              <a:ext uri="{FF2B5EF4-FFF2-40B4-BE49-F238E27FC236}">
                <a16:creationId xmlns:a16="http://schemas.microsoft.com/office/drawing/2014/main" id="{AF4B8858-8F3D-8119-FB38-F0E6F511419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4203" y="5566"/>
            <a:ext cx="1520062" cy="1342897"/>
          </a:xfrm>
          <a:prstGeom prst="rect">
            <a:avLst/>
          </a:prstGeom>
        </p:spPr>
      </p:pic>
      <p:pic>
        <p:nvPicPr>
          <p:cNvPr id="12" name="object 4">
            <a:extLst>
              <a:ext uri="{FF2B5EF4-FFF2-40B4-BE49-F238E27FC236}">
                <a16:creationId xmlns:a16="http://schemas.microsoft.com/office/drawing/2014/main" id="{0CD2863F-09B9-C707-88C9-64CE13BE4D3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5974" y="40502"/>
            <a:ext cx="1224957" cy="134289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2F4D580-5732-2E0B-96BD-6A4C3D178AA2}"/>
              </a:ext>
            </a:extLst>
          </p:cNvPr>
          <p:cNvSpPr txBox="1"/>
          <p:nvPr/>
        </p:nvSpPr>
        <p:spPr>
          <a:xfrm>
            <a:off x="934065" y="2036201"/>
            <a:ext cx="10392696" cy="419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Conventional EV charging systems often use </a:t>
            </a:r>
            <a:r>
              <a:rPr lang="en-IN" sz="18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fixed charging schedules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which may result in inefficient energy usage and increased charging costs.</a:t>
            </a:r>
          </a:p>
          <a:p>
            <a:pPr marL="0" marR="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Uncontrolled charging can create </a:t>
            </a:r>
            <a:r>
              <a:rPr lang="en-IN" sz="18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peak loads on the power grid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especially when many EVs are charged simultaneously.</a:t>
            </a:r>
          </a:p>
          <a:p>
            <a:pPr marL="0" marR="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Improper charging and discharging can cause </a:t>
            </a:r>
            <a:r>
              <a:rPr lang="en-IN" sz="18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battery degradation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reducing battery life and performance.</a:t>
            </a:r>
          </a:p>
          <a:p>
            <a:pPr marL="0" marR="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may not dynamically consider </a:t>
            </a:r>
            <a:r>
              <a:rPr lang="en-IN" sz="18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battery condition, electricity demand, charging time, and energy prices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Therefore, an </a:t>
            </a:r>
            <a:r>
              <a:rPr lang="en-IN" sz="18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intelligent EV charging and battery management system using Reinforcement Learning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is needed to optimize charging, reduce costs, protect battery health, and improve overall energy efficiency.</a:t>
            </a:r>
            <a:endParaRPr lang="en-IN" sz="12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640080"/>
            <a:ext cx="10972800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600" b="1">
                <a:solidFill>
                  <a:srgbClr val="0F2043"/>
                </a:solidFill>
                <a:latin typeface="Segoe UI"/>
              </a:defRPr>
            </a:pPr>
            <a:r>
              <a:rPr lang="en-IN" dirty="0"/>
              <a:t>LITERATURE REVIEW</a:t>
            </a:r>
            <a:endParaRPr dirty="0"/>
          </a:p>
        </p:txBody>
      </p:sp>
      <p:pic>
        <p:nvPicPr>
          <p:cNvPr id="22" name="object 5">
            <a:extLst>
              <a:ext uri="{FF2B5EF4-FFF2-40B4-BE49-F238E27FC236}">
                <a16:creationId xmlns:a16="http://schemas.microsoft.com/office/drawing/2014/main" id="{987D2E92-D830-F496-2542-7E0419E8F00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4203" y="7685"/>
            <a:ext cx="1520062" cy="1342897"/>
          </a:xfrm>
          <a:prstGeom prst="rect">
            <a:avLst/>
          </a:prstGeom>
        </p:spPr>
      </p:pic>
      <p:pic>
        <p:nvPicPr>
          <p:cNvPr id="24" name="object 4">
            <a:extLst>
              <a:ext uri="{FF2B5EF4-FFF2-40B4-BE49-F238E27FC236}">
                <a16:creationId xmlns:a16="http://schemas.microsoft.com/office/drawing/2014/main" id="{245ED52E-19D0-9506-9746-2EB116B2054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7430" y="7685"/>
            <a:ext cx="1303501" cy="1342897"/>
          </a:xfrm>
          <a:prstGeom prst="rect">
            <a:avLst/>
          </a:prstGeom>
        </p:spPr>
      </p:pic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C971EC72-57AF-233F-0983-0F190406FF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0319366"/>
              </p:ext>
            </p:extLst>
          </p:nvPr>
        </p:nvGraphicFramePr>
        <p:xfrm>
          <a:off x="639098" y="1617965"/>
          <a:ext cx="11395172" cy="493132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53852">
                  <a:extLst>
                    <a:ext uri="{9D8B030D-6E8A-4147-A177-3AD203B41FA5}">
                      <a16:colId xmlns:a16="http://schemas.microsoft.com/office/drawing/2014/main" val="1385531446"/>
                    </a:ext>
                  </a:extLst>
                </a:gridCol>
                <a:gridCol w="1868264">
                  <a:extLst>
                    <a:ext uri="{9D8B030D-6E8A-4147-A177-3AD203B41FA5}">
                      <a16:colId xmlns:a16="http://schemas.microsoft.com/office/drawing/2014/main" val="1083305341"/>
                    </a:ext>
                  </a:extLst>
                </a:gridCol>
                <a:gridCol w="1868264">
                  <a:extLst>
                    <a:ext uri="{9D8B030D-6E8A-4147-A177-3AD203B41FA5}">
                      <a16:colId xmlns:a16="http://schemas.microsoft.com/office/drawing/2014/main" val="3611172231"/>
                    </a:ext>
                  </a:extLst>
                </a:gridCol>
                <a:gridCol w="1868264">
                  <a:extLst>
                    <a:ext uri="{9D8B030D-6E8A-4147-A177-3AD203B41FA5}">
                      <a16:colId xmlns:a16="http://schemas.microsoft.com/office/drawing/2014/main" val="332428202"/>
                    </a:ext>
                  </a:extLst>
                </a:gridCol>
                <a:gridCol w="1868264">
                  <a:extLst>
                    <a:ext uri="{9D8B030D-6E8A-4147-A177-3AD203B41FA5}">
                      <a16:colId xmlns:a16="http://schemas.microsoft.com/office/drawing/2014/main" val="3147521512"/>
                    </a:ext>
                  </a:extLst>
                </a:gridCol>
                <a:gridCol w="1868264">
                  <a:extLst>
                    <a:ext uri="{9D8B030D-6E8A-4147-A177-3AD203B41FA5}">
                      <a16:colId xmlns:a16="http://schemas.microsoft.com/office/drawing/2014/main" val="3040314772"/>
                    </a:ext>
                  </a:extLst>
                </a:gridCol>
              </a:tblGrid>
              <a:tr h="40625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/>
                        <a:t>Year</a:t>
                      </a:r>
                      <a:endParaRPr lang="en-IN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632" marR="13632" marT="6816" marB="681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/>
                        <a:t>Authors</a:t>
                      </a:r>
                      <a:endParaRPr lang="en-IN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632" marR="13632" marT="6816" marB="681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/>
                        <a:t>Research Work</a:t>
                      </a:r>
                      <a:endParaRPr lang="en-IN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632" marR="13632" marT="6816" marB="681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/>
                        <a:t>Method / Algorithm</a:t>
                      </a:r>
                      <a:endParaRPr lang="en-IN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632" marR="13632" marT="6816" marB="681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/>
                        <a:t>Key Findings</a:t>
                      </a:r>
                      <a:endParaRPr lang="en-IN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632" marR="13632" marT="6816" marB="681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/>
                        <a:t>Limitation / Research Gap</a:t>
                      </a:r>
                      <a:endParaRPr lang="en-IN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632" marR="13632" marT="6816" marB="6816" anchor="ctr"/>
                </a:tc>
                <a:extLst>
                  <a:ext uri="{0D108BD9-81ED-4DB2-BD59-A6C34878D82A}">
                    <a16:rowId xmlns:a16="http://schemas.microsoft.com/office/drawing/2014/main" val="400377060"/>
                  </a:ext>
                </a:extLst>
              </a:tr>
              <a:tr h="98244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/>
                        <a:t>2023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632" marR="13632" marT="6816" marB="6816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 dirty="0"/>
                        <a:t>Research on EV charging management with V2G and battery degradation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632" marR="13632" marT="6816" marB="681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Deep Reinforcement Learning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632" marR="13632" marT="6816" marB="681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DRL with V2G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632" marR="13632" marT="6816" marB="6816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/>
                        <a:t>Considered conventional and fast charging, V2G, user requirements, charging cost and battery degradation while handling uncertainty. 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632" marR="13632" marT="6816" marB="6816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 dirty="0"/>
                        <a:t>More comprehensive than basic charging models, but practical large-scale deployment and real-time multi-station coordination remain challenging.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632" marR="13632" marT="6816" marB="6816" anchor="ctr"/>
                </a:tc>
                <a:extLst>
                  <a:ext uri="{0D108BD9-81ED-4DB2-BD59-A6C34878D82A}">
                    <a16:rowId xmlns:a16="http://schemas.microsoft.com/office/drawing/2014/main" val="2594992655"/>
                  </a:ext>
                </a:extLst>
              </a:tr>
              <a:tr h="98244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/>
                        <a:t>2024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632" marR="13632" marT="6816" marB="6816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/>
                        <a:t>Zhonghao Zhao, Carman K. M. Lee, Xiaoyuan Yan, Haonan Wang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632" marR="13632" marT="6816" marB="681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Reinforcement Learning for Electric Vehicle Charging Scheduling: A Systematic Review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632" marR="13632" marT="6816" marB="681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Systematic Review of RL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632" marR="13632" marT="6816" marB="6816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 dirty="0"/>
                        <a:t>Reviewed 111 relevant articles and </a:t>
                      </a:r>
                      <a:r>
                        <a:rPr lang="en-IN" sz="1400" dirty="0" err="1"/>
                        <a:t>analyzed</a:t>
                      </a:r>
                      <a:r>
                        <a:rPr lang="en-IN" sz="1400" dirty="0"/>
                        <a:t> RL approaches according to objectives, state space, action space, algorithms and training strategies. 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632" marR="13632" marT="6816" marB="6816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 dirty="0"/>
                        <a:t>Identifies major research gaps including scalability, uncertainty, training efficiency and practical deployment.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632" marR="13632" marT="6816" marB="6816" anchor="ctr"/>
                </a:tc>
                <a:extLst>
                  <a:ext uri="{0D108BD9-81ED-4DB2-BD59-A6C34878D82A}">
                    <a16:rowId xmlns:a16="http://schemas.microsoft.com/office/drawing/2014/main" val="846100641"/>
                  </a:ext>
                </a:extLst>
              </a:tr>
              <a:tr h="11215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800" b="1" dirty="0"/>
                        <a:t>2025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632" marR="13632" marT="6816" marB="6816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/>
                        <a:t>Panagiotis Michailidis, Iakovos Michailidis, Elias Kosmatopoulos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632" marR="13632" marT="6816" marB="681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Reinforcement Learning for Electric Vehicle Charging Management: Theory and Applications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632" marR="13632" marT="6816" marB="681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RL / DRL Review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632" marR="13632" marT="6816" marB="6816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/>
                        <a:t>Provides a structured review of RL for EV charging-station control, including value-based, policy-based, actor-critic, single-agent and multi-agent approaches. 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632" marR="13632" marT="6816" marB="6816" anchor="ctr"/>
                </a:tc>
                <a:tc>
                  <a:txBody>
                    <a:bodyPr/>
                    <a:lstStyle/>
                    <a:p>
                      <a:pPr algn="just"/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632" marR="13632" marT="6816" marB="6816"/>
                </a:tc>
                <a:extLst>
                  <a:ext uri="{0D108BD9-81ED-4DB2-BD59-A6C34878D82A}">
                    <a16:rowId xmlns:a16="http://schemas.microsoft.com/office/drawing/2014/main" val="313285628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Arrow 9"/>
          <p:cNvSpPr/>
          <p:nvPr/>
        </p:nvSpPr>
        <p:spPr>
          <a:xfrm>
            <a:off x="3977640" y="2011680"/>
            <a:ext cx="365760" cy="182880"/>
          </a:xfrm>
          <a:prstGeom prst="rightArrow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ight Arrow 12"/>
          <p:cNvSpPr/>
          <p:nvPr/>
        </p:nvSpPr>
        <p:spPr>
          <a:xfrm>
            <a:off x="5897880" y="2011680"/>
            <a:ext cx="365760" cy="182880"/>
          </a:xfrm>
          <a:prstGeom prst="rightArrow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ight Arrow 15"/>
          <p:cNvSpPr/>
          <p:nvPr/>
        </p:nvSpPr>
        <p:spPr>
          <a:xfrm>
            <a:off x="7818120" y="2011680"/>
            <a:ext cx="365760" cy="182880"/>
          </a:xfrm>
          <a:prstGeom prst="rightArrow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ight Arrow 18"/>
          <p:cNvSpPr/>
          <p:nvPr/>
        </p:nvSpPr>
        <p:spPr>
          <a:xfrm>
            <a:off x="9738360" y="2011680"/>
            <a:ext cx="365760" cy="182880"/>
          </a:xfrm>
          <a:prstGeom prst="rightArrow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object 5">
            <a:extLst>
              <a:ext uri="{FF2B5EF4-FFF2-40B4-BE49-F238E27FC236}">
                <a16:creationId xmlns:a16="http://schemas.microsoft.com/office/drawing/2014/main" id="{9CF5E432-0C03-7E99-A8CD-41CEC74D390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08704" y="-31369"/>
            <a:ext cx="1520062" cy="1342897"/>
          </a:xfrm>
          <a:prstGeom prst="rect">
            <a:avLst/>
          </a:prstGeom>
        </p:spPr>
      </p:pic>
      <p:pic>
        <p:nvPicPr>
          <p:cNvPr id="27" name="object 4">
            <a:extLst>
              <a:ext uri="{FF2B5EF4-FFF2-40B4-BE49-F238E27FC236}">
                <a16:creationId xmlns:a16="http://schemas.microsoft.com/office/drawing/2014/main" id="{324D9C41-E5C6-6575-20DE-AF53E69473B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7430" y="97919"/>
            <a:ext cx="1303501" cy="134289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DA8CFA1-2E8E-01C5-24B8-C99CFFA65FC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844"/>
          <a:stretch>
            <a:fillRect/>
          </a:stretch>
        </p:blipFill>
        <p:spPr>
          <a:xfrm>
            <a:off x="157430" y="1311528"/>
            <a:ext cx="11877140" cy="533882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E7B0BEF2-4736-1586-0F9D-40D0498FF560}"/>
              </a:ext>
            </a:extLst>
          </p:cNvPr>
          <p:cNvSpPr txBox="1"/>
          <p:nvPr/>
        </p:nvSpPr>
        <p:spPr>
          <a:xfrm>
            <a:off x="3618271" y="392578"/>
            <a:ext cx="497886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153810"/>
            <a:ext cx="10972800" cy="8002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600" b="1">
                <a:solidFill>
                  <a:srgbClr val="0F2043"/>
                </a:solidFill>
                <a:latin typeface="Segoe UI"/>
              </a:defRPr>
            </a:pPr>
            <a:r>
              <a:rPr dirty="0"/>
              <a:t>Module 1 </a:t>
            </a:r>
            <a:endParaRPr lang="en-IN" dirty="0"/>
          </a:p>
          <a:p>
            <a:pPr algn="ctr">
              <a:defRPr sz="2600" b="1">
                <a:solidFill>
                  <a:srgbClr val="0F2043"/>
                </a:solidFill>
                <a:latin typeface="Segoe UI"/>
              </a:defRPr>
            </a:pPr>
            <a:r>
              <a:rPr dirty="0"/>
              <a:t>Smart EV Charging Management</a:t>
            </a:r>
          </a:p>
        </p:txBody>
      </p:sp>
      <p:pic>
        <p:nvPicPr>
          <p:cNvPr id="10" name="object 5">
            <a:extLst>
              <a:ext uri="{FF2B5EF4-FFF2-40B4-BE49-F238E27FC236}">
                <a16:creationId xmlns:a16="http://schemas.microsoft.com/office/drawing/2014/main" id="{B67EC80B-5F02-D3DE-9DCB-327958D70E3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pic>
        <p:nvPicPr>
          <p:cNvPr id="12" name="object 4">
            <a:extLst>
              <a:ext uri="{FF2B5EF4-FFF2-40B4-BE49-F238E27FC236}">
                <a16:creationId xmlns:a16="http://schemas.microsoft.com/office/drawing/2014/main" id="{8B816017-C3B2-BB22-9545-0631195D78E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7352" y="191643"/>
            <a:ext cx="1103579" cy="134289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8E53362-C330-FCE6-BEF1-B88872B38812}"/>
              </a:ext>
            </a:extLst>
          </p:cNvPr>
          <p:cNvSpPr txBox="1"/>
          <p:nvPr/>
        </p:nvSpPr>
        <p:spPr>
          <a:xfrm>
            <a:off x="816079" y="1964359"/>
            <a:ext cx="7226710" cy="4204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Develop an intelligent system to </a:t>
            </a:r>
            <a:r>
              <a:rPr lang="en-IN" sz="1800" b="1" i="0" dirty="0">
                <a:solidFill>
                  <a:schemeClr val="tx1"/>
                </a:solidFill>
                <a:effectLst/>
                <a:latin typeface="+mn-lt"/>
              </a:rPr>
              <a:t>control and optimize EV charging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 based on battery status and charging requirements.</a:t>
            </a:r>
          </a:p>
          <a:p>
            <a:pPr marL="285750" marR="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Monitor parameters such as </a:t>
            </a:r>
            <a:r>
              <a:rPr lang="en-IN" sz="1800" b="1" i="0" dirty="0">
                <a:solidFill>
                  <a:schemeClr val="tx1"/>
                </a:solidFill>
                <a:effectLst/>
                <a:latin typeface="+mn-lt"/>
              </a:rPr>
              <a:t>State of Charge (SoC), charging current, voltage, and power consumption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.</a:t>
            </a:r>
          </a:p>
          <a:p>
            <a:pPr marL="285750" marR="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Use </a:t>
            </a:r>
            <a:r>
              <a:rPr lang="en-IN" sz="1800" b="1" i="0" dirty="0">
                <a:solidFill>
                  <a:schemeClr val="tx1"/>
                </a:solidFill>
                <a:effectLst/>
                <a:latin typeface="+mn-lt"/>
              </a:rPr>
              <a:t>Reinforcement Learning (RL)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 to determine the optimal charging time and power level.</a:t>
            </a:r>
          </a:p>
          <a:p>
            <a:pPr marL="285750" marR="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Reduce </a:t>
            </a:r>
            <a:r>
              <a:rPr lang="en-IN" sz="1800" b="1" i="0" dirty="0">
                <a:solidFill>
                  <a:schemeClr val="tx1"/>
                </a:solidFill>
                <a:effectLst/>
                <a:latin typeface="+mn-lt"/>
              </a:rPr>
              <a:t>peak electricity demand and charging costs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 by scheduling charging during suitable periods.</a:t>
            </a:r>
          </a:p>
          <a:p>
            <a:pPr marL="285750" marR="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Ensure </a:t>
            </a:r>
            <a:r>
              <a:rPr lang="en-IN" sz="1800" b="1" i="0" dirty="0">
                <a:solidFill>
                  <a:schemeClr val="tx1"/>
                </a:solidFill>
                <a:effectLst/>
                <a:latin typeface="+mn-lt"/>
              </a:rPr>
              <a:t>efficient and safe charging</a:t>
            </a:r>
            <a:r>
              <a:rPr lang="en-IN" sz="1800" b="0" i="0" dirty="0">
                <a:solidFill>
                  <a:schemeClr val="tx1"/>
                </a:solidFill>
                <a:effectLst/>
                <a:latin typeface="+mn-lt"/>
              </a:rPr>
              <a:t> while minimizing unnecessary battery degradation.</a:t>
            </a:r>
            <a:endParaRPr lang="en-IN" sz="1200" b="0" i="0" dirty="0">
              <a:solidFill>
                <a:srgbClr val="0D0D0D"/>
              </a:solidFill>
              <a:effectLst/>
              <a:latin typeface="-apple-system-body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1167" y="191643"/>
            <a:ext cx="10972800" cy="8002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600" b="1">
                <a:solidFill>
                  <a:srgbClr val="0F2043"/>
                </a:solidFill>
                <a:latin typeface="Segoe UI"/>
              </a:defRPr>
            </a:pPr>
            <a:r>
              <a:rPr dirty="0"/>
              <a:t>Module 2</a:t>
            </a:r>
            <a:endParaRPr lang="en-IN" dirty="0"/>
          </a:p>
          <a:p>
            <a:pPr algn="ctr">
              <a:defRPr sz="2600" b="1">
                <a:solidFill>
                  <a:srgbClr val="0F2043"/>
                </a:solidFill>
                <a:latin typeface="Segoe UI"/>
              </a:defRPr>
            </a:pPr>
            <a:r>
              <a:rPr dirty="0"/>
              <a:t> Intelligent Battery Management</a:t>
            </a:r>
          </a:p>
        </p:txBody>
      </p:sp>
      <p:pic>
        <p:nvPicPr>
          <p:cNvPr id="10" name="object 5">
            <a:extLst>
              <a:ext uri="{FF2B5EF4-FFF2-40B4-BE49-F238E27FC236}">
                <a16:creationId xmlns:a16="http://schemas.microsoft.com/office/drawing/2014/main" id="{F0FB998D-8DDA-7BB7-FC9C-548198D200B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pic>
        <p:nvPicPr>
          <p:cNvPr id="12" name="object 4">
            <a:extLst>
              <a:ext uri="{FF2B5EF4-FFF2-40B4-BE49-F238E27FC236}">
                <a16:creationId xmlns:a16="http://schemas.microsoft.com/office/drawing/2014/main" id="{0230FF9E-93D4-3768-249E-7B69936C666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7352" y="191643"/>
            <a:ext cx="1103579" cy="134289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F8E7E37-841D-7368-CCA4-C3B271D1DDB9}"/>
              </a:ext>
            </a:extLst>
          </p:cNvPr>
          <p:cNvSpPr txBox="1"/>
          <p:nvPr/>
        </p:nvSpPr>
        <p:spPr>
          <a:xfrm>
            <a:off x="1032387" y="1917290"/>
            <a:ext cx="6735097" cy="5028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Monitor important battery parameters such as </a:t>
            </a:r>
            <a:r>
              <a:rPr lang="en-IN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State of Charge (SoC), State of Health (</a:t>
            </a:r>
            <a:r>
              <a:rPr lang="en-IN" b="1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SoH</a:t>
            </a:r>
            <a:r>
              <a:rPr lang="en-IN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), voltage, current, and temperature</a:t>
            </a:r>
            <a:r>
              <a:rPr lang="en-IN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intelligent algorithms to </a:t>
            </a:r>
            <a:r>
              <a:rPr lang="en-IN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estimate battery condition and predict battery performance</a:t>
            </a:r>
            <a:r>
              <a:rPr lang="en-IN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Apply </a:t>
            </a:r>
            <a:r>
              <a:rPr lang="en-IN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Reinforcement Learning (RL)</a:t>
            </a:r>
            <a:r>
              <a:rPr lang="en-IN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to optimize battery charging and discharging decisions.</a:t>
            </a:r>
          </a:p>
          <a:p>
            <a:pPr marL="342900" marR="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Prevent </a:t>
            </a:r>
            <a:r>
              <a:rPr lang="en-IN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overcharging, deep discharge, overheating, and excessive battery stress</a:t>
            </a:r>
            <a:r>
              <a:rPr lang="en-IN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 </a:t>
            </a:r>
            <a:r>
              <a:rPr lang="en-IN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battery lifespan, safety, reliability, and overall energy efficiency</a:t>
            </a:r>
            <a:r>
              <a:rPr lang="en-IN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5760" y="422850"/>
            <a:ext cx="10972800" cy="8002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600" b="1">
                <a:solidFill>
                  <a:srgbClr val="0F2043"/>
                </a:solidFill>
                <a:latin typeface="Segoe UI"/>
              </a:defRPr>
            </a:pPr>
            <a:r>
              <a:rPr dirty="0"/>
              <a:t>Module 3 </a:t>
            </a:r>
            <a:endParaRPr lang="en-IN" dirty="0"/>
          </a:p>
          <a:p>
            <a:pPr algn="ctr">
              <a:defRPr sz="2600" b="1">
                <a:solidFill>
                  <a:srgbClr val="0F2043"/>
                </a:solidFill>
                <a:latin typeface="Segoe UI"/>
              </a:defRPr>
            </a:pPr>
            <a:r>
              <a:rPr dirty="0"/>
              <a:t>Reinforcement Learning Optimization</a:t>
            </a:r>
          </a:p>
        </p:txBody>
      </p:sp>
      <p:pic>
        <p:nvPicPr>
          <p:cNvPr id="10" name="object 5">
            <a:extLst>
              <a:ext uri="{FF2B5EF4-FFF2-40B4-BE49-F238E27FC236}">
                <a16:creationId xmlns:a16="http://schemas.microsoft.com/office/drawing/2014/main" id="{C30EB4D2-7DA9-2E48-7C81-1842E5EE34B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pic>
        <p:nvPicPr>
          <p:cNvPr id="12" name="object 4">
            <a:extLst>
              <a:ext uri="{FF2B5EF4-FFF2-40B4-BE49-F238E27FC236}">
                <a16:creationId xmlns:a16="http://schemas.microsoft.com/office/drawing/2014/main" id="{7B4AF20F-A3D1-78A3-809D-1EB0CC2DC9B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7352" y="191643"/>
            <a:ext cx="1103579" cy="134289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143AD9B-38AF-7A93-874E-2735CF10CC91}"/>
              </a:ext>
            </a:extLst>
          </p:cNvPr>
          <p:cNvSpPr txBox="1"/>
          <p:nvPr/>
        </p:nvSpPr>
        <p:spPr>
          <a:xfrm>
            <a:off x="1012723" y="1868773"/>
            <a:ext cx="6774425" cy="5028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 an </a:t>
            </a:r>
            <a:r>
              <a:rPr lang="en-IN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RL-based decision-making model</a:t>
            </a:r>
            <a:r>
              <a:rPr lang="en-IN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to optimize EV charging and battery management.</a:t>
            </a:r>
          </a:p>
          <a:p>
            <a:pPr marL="342900" marR="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Define the </a:t>
            </a:r>
            <a:r>
              <a:rPr lang="en-IN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state, actions, and reward function</a:t>
            </a:r>
            <a:r>
              <a:rPr lang="en-IN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based on battery condition, charging demand, energy price, and grid load.</a:t>
            </a:r>
          </a:p>
          <a:p>
            <a:pPr marL="342900" marR="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 the RL agent to select the </a:t>
            </a:r>
            <a:r>
              <a:rPr lang="en-IN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optimal charging or discharging strategy</a:t>
            </a:r>
            <a:r>
              <a:rPr lang="en-IN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Minimize </a:t>
            </a:r>
            <a:r>
              <a:rPr lang="en-IN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charging cost, peak power demand, and battery degradation</a:t>
            </a:r>
            <a:r>
              <a:rPr lang="en-IN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through continuous learning.</a:t>
            </a:r>
          </a:p>
          <a:p>
            <a:pPr marL="342900" marR="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 overall </a:t>
            </a:r>
            <a:r>
              <a:rPr lang="en-IN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energy efficiency, battery performance, and charging reliability</a:t>
            </a:r>
            <a:r>
              <a:rPr lang="en-IN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B62E2-85AE-9137-7523-B223C3CBC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object 5">
            <a:extLst>
              <a:ext uri="{FF2B5EF4-FFF2-40B4-BE49-F238E27FC236}">
                <a16:creationId xmlns:a16="http://schemas.microsoft.com/office/drawing/2014/main" id="{C150F72B-C121-085D-8A13-1E5864582B2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pic>
        <p:nvPicPr>
          <p:cNvPr id="12" name="object 4">
            <a:extLst>
              <a:ext uri="{FF2B5EF4-FFF2-40B4-BE49-F238E27FC236}">
                <a16:creationId xmlns:a16="http://schemas.microsoft.com/office/drawing/2014/main" id="{FBA0D066-D2E1-50FC-9AEF-26FB0153033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7352" y="191643"/>
            <a:ext cx="1103579" cy="134289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A567176-3A53-A147-9D58-AB69BE4ACC56}"/>
              </a:ext>
            </a:extLst>
          </p:cNvPr>
          <p:cNvSpPr txBox="1"/>
          <p:nvPr/>
        </p:nvSpPr>
        <p:spPr>
          <a:xfrm>
            <a:off x="3400839" y="350570"/>
            <a:ext cx="381065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075320C-3AED-A484-28BB-5D2759A5B9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2793245"/>
              </p:ext>
            </p:extLst>
          </p:nvPr>
        </p:nvGraphicFramePr>
        <p:xfrm>
          <a:off x="1135282" y="1529321"/>
          <a:ext cx="10299634" cy="5300873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5149817">
                  <a:extLst>
                    <a:ext uri="{9D8B030D-6E8A-4147-A177-3AD203B41FA5}">
                      <a16:colId xmlns:a16="http://schemas.microsoft.com/office/drawing/2014/main" val="210053185"/>
                    </a:ext>
                  </a:extLst>
                </a:gridCol>
                <a:gridCol w="5149817">
                  <a:extLst>
                    <a:ext uri="{9D8B030D-6E8A-4147-A177-3AD203B41FA5}">
                      <a16:colId xmlns:a16="http://schemas.microsoft.com/office/drawing/2014/main" val="1913170596"/>
                    </a:ext>
                  </a:extLst>
                </a:gridCol>
              </a:tblGrid>
              <a:tr h="30363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/>
                        <a:t>Technology</a:t>
                      </a: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000" b="1" dirty="0"/>
                        <a:t>Purpose</a:t>
                      </a:r>
                    </a:p>
                  </a:txBody>
                  <a:tcPr marL="71841" marR="71841" marT="35920" marB="35920" anchor="ctr"/>
                </a:tc>
                <a:extLst>
                  <a:ext uri="{0D108BD9-81ED-4DB2-BD59-A6C34878D82A}">
                    <a16:rowId xmlns:a16="http://schemas.microsoft.com/office/drawing/2014/main" val="3531566776"/>
                  </a:ext>
                </a:extLst>
              </a:tr>
              <a:tr h="7590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Python</a:t>
                      </a: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Main programming language for developing the system and implementing the RL model</a:t>
                      </a:r>
                    </a:p>
                  </a:txBody>
                  <a:tcPr marL="71841" marR="71841" marT="35920" marB="35920" anchor="ctr"/>
                </a:tc>
                <a:extLst>
                  <a:ext uri="{0D108BD9-81ED-4DB2-BD59-A6C34878D82A}">
                    <a16:rowId xmlns:a16="http://schemas.microsoft.com/office/drawing/2014/main" val="597596334"/>
                  </a:ext>
                </a:extLst>
              </a:tr>
              <a:tr h="5313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Reinforcement Learning</a:t>
                      </a: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Optimizes EV charging decisions based on real-time conditions</a:t>
                      </a:r>
                    </a:p>
                  </a:txBody>
                  <a:tcPr marL="71841" marR="71841" marT="35920" marB="35920" anchor="ctr"/>
                </a:tc>
                <a:extLst>
                  <a:ext uri="{0D108BD9-81ED-4DB2-BD59-A6C34878D82A}">
                    <a16:rowId xmlns:a16="http://schemas.microsoft.com/office/drawing/2014/main" val="3969593195"/>
                  </a:ext>
                </a:extLst>
              </a:tr>
              <a:tr h="5313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Q-Learning</a:t>
                      </a: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Handles discrete charging states and actions</a:t>
                      </a:r>
                    </a:p>
                  </a:txBody>
                  <a:tcPr marL="71841" marR="71841" marT="35920" marB="35920" anchor="ctr"/>
                </a:tc>
                <a:extLst>
                  <a:ext uri="{0D108BD9-81ED-4DB2-BD59-A6C34878D82A}">
                    <a16:rowId xmlns:a16="http://schemas.microsoft.com/office/drawing/2014/main" val="3494727642"/>
                  </a:ext>
                </a:extLst>
              </a:tr>
              <a:tr h="5313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Deep Q-Network (DQN)</a:t>
                      </a: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Handles complex, multi-dimensional charging and battery data</a:t>
                      </a:r>
                    </a:p>
                  </a:txBody>
                  <a:tcPr marL="71841" marR="71841" marT="35920" marB="35920" anchor="ctr"/>
                </a:tc>
                <a:extLst>
                  <a:ext uri="{0D108BD9-81ED-4DB2-BD59-A6C34878D82A}">
                    <a16:rowId xmlns:a16="http://schemas.microsoft.com/office/drawing/2014/main" val="3499970222"/>
                  </a:ext>
                </a:extLst>
              </a:tr>
              <a:tr h="5313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Battery Management System (BMS)</a:t>
                      </a: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Monitors SOC, SOH, temperature, voltage, current, and charging cycles</a:t>
                      </a:r>
                    </a:p>
                  </a:txBody>
                  <a:tcPr marL="71841" marR="71841" marT="35920" marB="35920" anchor="ctr"/>
                </a:tc>
                <a:extLst>
                  <a:ext uri="{0D108BD9-81ED-4DB2-BD59-A6C34878D82A}">
                    <a16:rowId xmlns:a16="http://schemas.microsoft.com/office/drawing/2014/main" val="244662337"/>
                  </a:ext>
                </a:extLst>
              </a:tr>
              <a:tr h="5313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Database</a:t>
                      </a: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Stores user, vehicle, battery, charging, and system information</a:t>
                      </a:r>
                    </a:p>
                  </a:txBody>
                  <a:tcPr marL="71841" marR="71841" marT="35920" marB="35920" anchor="ctr"/>
                </a:tc>
                <a:extLst>
                  <a:ext uri="{0D108BD9-81ED-4DB2-BD59-A6C34878D82A}">
                    <a16:rowId xmlns:a16="http://schemas.microsoft.com/office/drawing/2014/main" val="1536072782"/>
                  </a:ext>
                </a:extLst>
              </a:tr>
              <a:tr h="5313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Dashboard</a:t>
                      </a: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Displays real-time charging status, battery health, cost, and station information</a:t>
                      </a:r>
                    </a:p>
                  </a:txBody>
                  <a:tcPr marL="71841" marR="71841" marT="35920" marB="35920" anchor="ctr"/>
                </a:tc>
                <a:extLst>
                  <a:ext uri="{0D108BD9-81ED-4DB2-BD59-A6C34878D82A}">
                    <a16:rowId xmlns:a16="http://schemas.microsoft.com/office/drawing/2014/main" val="2132307976"/>
                  </a:ext>
                </a:extLst>
              </a:tr>
              <a:tr h="5313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IoT / Sensors</a:t>
                      </a:r>
                    </a:p>
                  </a:txBody>
                  <a:tcPr marL="71841" marR="71841" marT="35920" marB="359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Collects real-time battery and charging parameters</a:t>
                      </a:r>
                    </a:p>
                  </a:txBody>
                  <a:tcPr marL="71841" marR="71841" marT="35920" marB="35920" anchor="ctr"/>
                </a:tc>
                <a:extLst>
                  <a:ext uri="{0D108BD9-81ED-4DB2-BD59-A6C34878D82A}">
                    <a16:rowId xmlns:a16="http://schemas.microsoft.com/office/drawing/2014/main" val="37319351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05623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16CE2-FFE4-9B8D-697B-E47279166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C2820F6-8B47-7F0C-F9CD-5A0FD91F5053}"/>
              </a:ext>
            </a:extLst>
          </p:cNvPr>
          <p:cNvSpPr/>
          <p:nvPr/>
        </p:nvSpPr>
        <p:spPr>
          <a:xfrm>
            <a:off x="548640" y="1280160"/>
            <a:ext cx="11094415" cy="1828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object 5">
            <a:extLst>
              <a:ext uri="{FF2B5EF4-FFF2-40B4-BE49-F238E27FC236}">
                <a16:creationId xmlns:a16="http://schemas.microsoft.com/office/drawing/2014/main" id="{9ABEBCCB-48CE-5CDC-C482-C7B61BD14A5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pic>
        <p:nvPicPr>
          <p:cNvPr id="12" name="object 4">
            <a:extLst>
              <a:ext uri="{FF2B5EF4-FFF2-40B4-BE49-F238E27FC236}">
                <a16:creationId xmlns:a16="http://schemas.microsoft.com/office/drawing/2014/main" id="{2639063F-ECC5-6685-DA12-6EB264EB64C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7352" y="191643"/>
            <a:ext cx="1103579" cy="134289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4C2726-1BDF-68B1-3173-03C438BA9F04}"/>
              </a:ext>
            </a:extLst>
          </p:cNvPr>
          <p:cNvSpPr txBox="1"/>
          <p:nvPr/>
        </p:nvSpPr>
        <p:spPr>
          <a:xfrm>
            <a:off x="3691342" y="668788"/>
            <a:ext cx="40162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3200" b="1" dirty="0"/>
              <a:t>Results and Discussion</a:t>
            </a:r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3806A5-41F3-2009-5D30-93C8ABC89C2E}"/>
              </a:ext>
            </a:extLst>
          </p:cNvPr>
          <p:cNvSpPr txBox="1"/>
          <p:nvPr/>
        </p:nvSpPr>
        <p:spPr>
          <a:xfrm>
            <a:off x="992840" y="1877020"/>
            <a:ext cx="10027489" cy="28069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charging cost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selecting suitable charging periods based on electricity tariffs.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waiting time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through intelligent charging-station and queue management.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battery protection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monitoring SOC, SOH, temperature, voltage, and current.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charging-station utilization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distributing charging requests efficiently. </a:t>
            </a:r>
          </a:p>
          <a:p>
            <a:pPr lvl="0" algn="just"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07BA10-368D-55EC-853E-E256E436ED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2254" y="3893560"/>
            <a:ext cx="9848659" cy="2265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866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BD220-DA41-7678-1D3F-FA3399C8D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object 5">
            <a:extLst>
              <a:ext uri="{FF2B5EF4-FFF2-40B4-BE49-F238E27FC236}">
                <a16:creationId xmlns:a16="http://schemas.microsoft.com/office/drawing/2014/main" id="{A4A04E56-427E-52D0-2047-669BE62DDD3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pic>
        <p:nvPicPr>
          <p:cNvPr id="12" name="object 4">
            <a:extLst>
              <a:ext uri="{FF2B5EF4-FFF2-40B4-BE49-F238E27FC236}">
                <a16:creationId xmlns:a16="http://schemas.microsoft.com/office/drawing/2014/main" id="{16233BC4-DCA4-C59D-C963-1BC5C25B97A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7352" y="191643"/>
            <a:ext cx="1103579" cy="134289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BF2571F-11A2-F1BC-3B13-A8D593AA2F47}"/>
              </a:ext>
            </a:extLst>
          </p:cNvPr>
          <p:cNvSpPr txBox="1"/>
          <p:nvPr/>
        </p:nvSpPr>
        <p:spPr>
          <a:xfrm>
            <a:off x="4239151" y="627569"/>
            <a:ext cx="20553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7E0F84-F405-B940-9C5F-3992EB3610D7}"/>
              </a:ext>
            </a:extLst>
          </p:cNvPr>
          <p:cNvSpPr txBox="1"/>
          <p:nvPr/>
        </p:nvSpPr>
        <p:spPr>
          <a:xfrm>
            <a:off x="513384" y="1610577"/>
            <a:ext cx="6778219" cy="46198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EV Charging and Battery Management System using Reinforcement Learning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an adaptive solution for efficient EV charging.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combines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Charging Management, Battery Management, and Reinforcement Learning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make intelligent charging decisions. </a:t>
            </a: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monitoring of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SOC, SOH, temperature, voltage, current, and charging cycles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helps maintain battery safety and health.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dirty="0"/>
          </a:p>
        </p:txBody>
      </p:sp>
      <p:pic>
        <p:nvPicPr>
          <p:cNvPr id="5" name="Picture 4" descr="Know the Potential of a Smart EV Charging Management System">
            <a:extLst>
              <a:ext uri="{FF2B5EF4-FFF2-40B4-BE49-F238E27FC236}">
                <a16:creationId xmlns:a16="http://schemas.microsoft.com/office/drawing/2014/main" id="{2DA15165-566F-79D1-EEC7-DF7F06F1AC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1145" y="2244981"/>
            <a:ext cx="4643120" cy="3649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5968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0CCF927C-4ED5-6244-B0BD-05ADF6D35ADE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2118360" y="0"/>
            <a:ext cx="7955280" cy="6858000"/>
          </a:xfrm>
          <a:custGeom>
            <a:avLst/>
            <a:gdLst>
              <a:gd name="connsiteX0" fmla="*/ 1962423 w 7955280"/>
              <a:gd name="connsiteY0" fmla="*/ 0 h 6858000"/>
              <a:gd name="connsiteX1" fmla="*/ 5992858 w 7955280"/>
              <a:gd name="connsiteY1" fmla="*/ 0 h 6858000"/>
              <a:gd name="connsiteX2" fmla="*/ 6040191 w 7955280"/>
              <a:gd name="connsiteY2" fmla="*/ 27216 h 6858000"/>
              <a:gd name="connsiteX3" fmla="*/ 7955280 w 7955280"/>
              <a:gd name="connsiteY3" fmla="*/ 3429000 h 6858000"/>
              <a:gd name="connsiteX4" fmla="*/ 6040191 w 7955280"/>
              <a:gd name="connsiteY4" fmla="*/ 6830784 h 6858000"/>
              <a:gd name="connsiteX5" fmla="*/ 5992858 w 7955280"/>
              <a:gd name="connsiteY5" fmla="*/ 6858000 h 6858000"/>
              <a:gd name="connsiteX6" fmla="*/ 1962423 w 7955280"/>
              <a:gd name="connsiteY6" fmla="*/ 6858000 h 6858000"/>
              <a:gd name="connsiteX7" fmla="*/ 1915089 w 7955280"/>
              <a:gd name="connsiteY7" fmla="*/ 6830784 h 6858000"/>
              <a:gd name="connsiteX8" fmla="*/ 0 w 7955280"/>
              <a:gd name="connsiteY8" fmla="*/ 3429000 h 6858000"/>
              <a:gd name="connsiteX9" fmla="*/ 1915089 w 7955280"/>
              <a:gd name="connsiteY9" fmla="*/ 272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55280" h="6858000">
                <a:moveTo>
                  <a:pt x="1962423" y="0"/>
                </a:moveTo>
                <a:lnTo>
                  <a:pt x="5992858" y="0"/>
                </a:lnTo>
                <a:lnTo>
                  <a:pt x="6040191" y="27216"/>
                </a:lnTo>
                <a:cubicBezTo>
                  <a:pt x="7188332" y="724844"/>
                  <a:pt x="7955280" y="1987357"/>
                  <a:pt x="7955280" y="3429000"/>
                </a:cubicBezTo>
                <a:cubicBezTo>
                  <a:pt x="7955280" y="4870644"/>
                  <a:pt x="7188332" y="6133157"/>
                  <a:pt x="6040191" y="6830784"/>
                </a:cubicBezTo>
                <a:lnTo>
                  <a:pt x="5992858" y="6858000"/>
                </a:lnTo>
                <a:lnTo>
                  <a:pt x="1962423" y="6858000"/>
                </a:lnTo>
                <a:lnTo>
                  <a:pt x="1915089" y="6830784"/>
                </a:lnTo>
                <a:cubicBezTo>
                  <a:pt x="766948" y="6133157"/>
                  <a:pt x="0" y="4870644"/>
                  <a:pt x="0" y="3429000"/>
                </a:cubicBezTo>
                <a:cubicBezTo>
                  <a:pt x="0" y="1987357"/>
                  <a:pt x="766948" y="724844"/>
                  <a:pt x="1915089" y="272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8A7D9A-28C0-F898-6013-4FDA9C788592}"/>
              </a:ext>
            </a:extLst>
          </p:cNvPr>
          <p:cNvSpPr txBox="1"/>
          <p:nvPr/>
        </p:nvSpPr>
        <p:spPr>
          <a:xfrm>
            <a:off x="4129548" y="1897626"/>
            <a:ext cx="358877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0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8832323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1106</Words>
  <Application>Microsoft Office PowerPoint</Application>
  <PresentationFormat>Widescreen</PresentationFormat>
  <Paragraphs>123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-apple-system-body</vt:lpstr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G Srivardhan</cp:lastModifiedBy>
  <cp:revision>8</cp:revision>
  <dcterms:created xsi:type="dcterms:W3CDTF">2013-01-27T09:14:16Z</dcterms:created>
  <dcterms:modified xsi:type="dcterms:W3CDTF">2026-09-03T09:08:43Z</dcterms:modified>
  <cp:category/>
</cp:coreProperties>
</file>